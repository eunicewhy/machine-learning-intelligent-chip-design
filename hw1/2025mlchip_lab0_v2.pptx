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761D"/>
    <a:srgbClr val="7C7C7C"/>
    <a:srgbClr val="595959"/>
    <a:srgbClr val="CA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c984054a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c984054a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ab0a36be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ab0a36be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ea6b709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bea6b7092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bec984054a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bec984054a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ec984054a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ec984054a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f4236d3a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f4236d3a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f4236d3a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f4236d3a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ec984054a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ec984054a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md.io/@sysprog/SySTMXPvl" TargetMode="External"/><Relationship Id="rId3" Type="http://schemas.openxmlformats.org/officeDocument/2006/relationships/hyperlink" Target="https://systemc.org/overview/systemc/" TargetMode="External"/><Relationship Id="rId7" Type="http://schemas.openxmlformats.org/officeDocument/2006/relationships/hyperlink" Target="https://blog.csdn.net/qq_42556934/article/details/10830472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accellera-official/systemc/blob/main/INSTALL.md#compilation-and-linking-options" TargetMode="External"/><Relationship Id="rId5" Type="http://schemas.openxmlformats.org/officeDocument/2006/relationships/hyperlink" Target="https://gist.github.com/bagheriali2001/0736fabf7da95fb02bbe6777d53fabf7" TargetMode="External"/><Relationship Id="rId4" Type="http://schemas.openxmlformats.org/officeDocument/2006/relationships/hyperlink" Target="https://github.com/AleksandarKostovic/SystemC-tuto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-59401" y="593525"/>
            <a:ext cx="9262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4800" dirty="0" err="1"/>
              <a:t>mlchip</a:t>
            </a:r>
            <a:r>
              <a:rPr lang="zh-TW" sz="4800" dirty="0"/>
              <a:t> </a:t>
            </a:r>
            <a:r>
              <a:rPr lang="en-US" altLang="zh-TW" sz="4800" dirty="0"/>
              <a:t>L</a:t>
            </a:r>
            <a:r>
              <a:rPr lang="zh-TW" sz="4800"/>
              <a:t>a</a:t>
            </a:r>
            <a:r>
              <a:rPr lang="zh-TW" sz="4800" dirty="0"/>
              <a:t>b0 SytemC</a:t>
            </a:r>
            <a:r>
              <a:rPr lang="zh-TW" sz="4800" dirty="0">
                <a:latin typeface="Microsoft JhengHei"/>
                <a:ea typeface="Microsoft JhengHei"/>
                <a:cs typeface="Microsoft JhengHei"/>
                <a:sym typeface="Microsoft JhengHei"/>
              </a:rPr>
              <a:t>環境測試</a:t>
            </a:r>
            <a:endParaRPr sz="4800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82875"/>
            <a:ext cx="8520600" cy="9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1800" dirty="0">
                <a:solidFill>
                  <a:schemeClr val="dk1"/>
                </a:solidFill>
              </a:rPr>
              <a:t>Author : 陳旭祺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1800" dirty="0">
                <a:solidFill>
                  <a:schemeClr val="dk1"/>
                </a:solidFill>
              </a:rPr>
              <a:t>Date : 202</a:t>
            </a:r>
            <a:r>
              <a:rPr lang="en-US" altLang="zh-TW" sz="1800" dirty="0">
                <a:solidFill>
                  <a:schemeClr val="dk1"/>
                </a:solidFill>
              </a:rPr>
              <a:t>5</a:t>
            </a:r>
            <a:r>
              <a:rPr lang="zh-TW" sz="1800" dirty="0">
                <a:solidFill>
                  <a:schemeClr val="dk1"/>
                </a:solidFill>
              </a:rPr>
              <a:t>/03/0</a:t>
            </a:r>
            <a:r>
              <a:rPr lang="en-US" altLang="zh-TW" sz="1800" dirty="0">
                <a:solidFill>
                  <a:schemeClr val="dk1"/>
                </a:solidFill>
              </a:rPr>
              <a:t>4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什麼是 SystemC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86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98" b="1" dirty="0">
                <a:solidFill>
                  <a:schemeClr val="tx1"/>
                </a:solidFill>
              </a:rPr>
              <a:t>SystemC 是一個用 C++ 編寫的一個函式庫 (調用方式 `#inlcude "systemc.h"`)</a:t>
            </a:r>
            <a:endParaRPr sz="1898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98" b="1" dirty="0">
                <a:solidFill>
                  <a:schemeClr val="tx1"/>
                </a:solidFill>
              </a:rPr>
              <a:t>支援系統級別的設計和驗證， 讓我們使用 C++ 也能實現硬體功能，不需要任何特殊的EDA工具才能使用。</a:t>
            </a:r>
            <a:endParaRPr sz="1898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8" dirty="0">
                <a:solidFill>
                  <a:schemeClr val="tx1"/>
                </a:solidFill>
              </a:rPr>
              <a:t>支援與 RTL 設計的協同驗證。與更詳細的 RTL 相比， SystemC 這種更高層次的語言可以實現更快、更有效率的架構分析和設計。</a:t>
            </a:r>
            <a:endParaRPr sz="1908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8" dirty="0">
                <a:solidFill>
                  <a:schemeClr val="tx1"/>
                </a:solidFill>
              </a:rPr>
              <a:t>在系統架構層級的驗證中，同樣的架構， SystemC 比起RTL驗證， pin 腳精確度、時序精確度快上幾個數量級。</a:t>
            </a:r>
            <a:endParaRPr sz="1908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376" y="1312276"/>
            <a:ext cx="3316949" cy="23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執行步驟 (1/5)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1</a:t>
            </a:r>
            <a:r>
              <a:rPr lang="en-US" altLang="zh-TW" sz="1600" b="1" dirty="0">
                <a:solidFill>
                  <a:schemeClr val="tx1"/>
                </a:solidFill>
              </a:rPr>
              <a:t>. </a:t>
            </a:r>
            <a:r>
              <a:rPr lang="zh-TW" altLang="en-US" sz="1600" b="1" dirty="0">
                <a:solidFill>
                  <a:srgbClr val="FF0000"/>
                </a:solidFill>
              </a:rPr>
              <a:t>一開始登入</a:t>
            </a:r>
            <a:r>
              <a:rPr lang="en-US" altLang="zh-TW" sz="1600" b="1" dirty="0">
                <a:solidFill>
                  <a:srgbClr val="FF0000"/>
                </a:solidFill>
              </a:rPr>
              <a:t>server</a:t>
            </a:r>
            <a:r>
              <a:rPr lang="zh-TW" altLang="en-US" sz="1600" b="1" dirty="0">
                <a:solidFill>
                  <a:srgbClr val="FF0000"/>
                </a:solidFill>
              </a:rPr>
              <a:t>，請不要選擇任何關鍵字</a:t>
            </a:r>
            <a:r>
              <a:rPr lang="en-US" altLang="zh-TW" sz="1600" dirty="0">
                <a:solidFill>
                  <a:schemeClr val="tx1"/>
                </a:solidFill>
              </a:rPr>
              <a:t>(`</a:t>
            </a:r>
            <a:r>
              <a:rPr lang="en-US" altLang="zh-TW" sz="1600" dirty="0" err="1">
                <a:solidFill>
                  <a:schemeClr val="tx1"/>
                </a:solidFill>
              </a:rPr>
              <a:t>yes`,`coding`,`layout</a:t>
            </a:r>
            <a:r>
              <a:rPr lang="en-US" altLang="zh-TW" sz="1600" dirty="0">
                <a:solidFill>
                  <a:schemeClr val="tx1"/>
                </a:solidFill>
              </a:rPr>
              <a:t>`)</a:t>
            </a:r>
            <a:r>
              <a:rPr lang="zh-TW" altLang="en-US" sz="1600" dirty="0">
                <a:solidFill>
                  <a:schemeClr val="tx1"/>
                </a:solidFill>
              </a:rPr>
              <a:t>，否則</a:t>
            </a:r>
            <a:r>
              <a:rPr lang="en-US" altLang="zh-TW" sz="1600" dirty="0">
                <a:solidFill>
                  <a:schemeClr val="tx1"/>
                </a:solidFill>
              </a:rPr>
              <a:t>EDA tool</a:t>
            </a:r>
            <a:r>
              <a:rPr lang="zh-TW" altLang="en-US" sz="1600" dirty="0">
                <a:solidFill>
                  <a:schemeClr val="tx1"/>
                </a:solidFill>
              </a:rPr>
              <a:t>的環境會與</a:t>
            </a:r>
            <a:r>
              <a:rPr lang="en-US" altLang="zh-TW" sz="1600" dirty="0">
                <a:solidFill>
                  <a:schemeClr val="tx1"/>
                </a:solidFill>
              </a:rPr>
              <a:t>`</a:t>
            </a:r>
            <a:r>
              <a:rPr lang="en-US" altLang="zh-TW" sz="1600" dirty="0" err="1">
                <a:solidFill>
                  <a:schemeClr val="tx1"/>
                </a:solidFill>
              </a:rPr>
              <a:t>systemc.h</a:t>
            </a:r>
            <a:r>
              <a:rPr lang="en-US" altLang="zh-TW" sz="1600" dirty="0">
                <a:solidFill>
                  <a:schemeClr val="tx1"/>
                </a:solidFill>
              </a:rPr>
              <a:t>`</a:t>
            </a:r>
            <a:r>
              <a:rPr lang="zh-TW" altLang="en-US" sz="1600" dirty="0">
                <a:solidFill>
                  <a:schemeClr val="tx1"/>
                </a:solidFill>
              </a:rPr>
              <a:t>發生衝突。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tx1"/>
                </a:solidFill>
              </a:rPr>
              <a:t>2. 從 TA 資料夾複製並解壓縮檔案</a:t>
            </a:r>
            <a:endParaRPr sz="1600" dirty="0">
              <a:solidFill>
                <a:schemeClr val="tx1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38761D"/>
                </a:solidFill>
              </a:rPr>
              <a:t>tar -xvf ~</a:t>
            </a:r>
            <a:r>
              <a:rPr lang="en-US" altLang="zh-TW" sz="1600" dirty="0" err="1">
                <a:solidFill>
                  <a:srgbClr val="38761D"/>
                </a:solidFill>
              </a:rPr>
              <a:t>mlchip</a:t>
            </a:r>
            <a:r>
              <a:rPr lang="zh-TW" sz="1600" dirty="0">
                <a:solidFill>
                  <a:srgbClr val="38761D"/>
                </a:solidFill>
              </a:rPr>
              <a:t>TA01/</a:t>
            </a:r>
            <a:r>
              <a:rPr lang="en-US" altLang="zh-TW" sz="1600" dirty="0">
                <a:solidFill>
                  <a:srgbClr val="38761D"/>
                </a:solidFill>
              </a:rPr>
              <a:t>l</a:t>
            </a:r>
            <a:r>
              <a:rPr lang="zh-TW" sz="1600" dirty="0">
                <a:solidFill>
                  <a:srgbClr val="38761D"/>
                </a:solidFill>
              </a:rPr>
              <a:t>ab0.tar</a:t>
            </a:r>
            <a:endParaRPr sz="1600" dirty="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3. </a:t>
            </a:r>
            <a:r>
              <a:rPr lang="zh-TW" altLang="en-US" sz="1600" dirty="0">
                <a:solidFill>
                  <a:schemeClr val="tx1"/>
                </a:solidFill>
              </a:rPr>
              <a:t>複製</a:t>
            </a:r>
            <a:r>
              <a:rPr lang="en-US" altLang="zh-TW" sz="1600" dirty="0">
                <a:solidFill>
                  <a:schemeClr val="tx1"/>
                </a:solidFill>
              </a:rPr>
              <a:t>`.</a:t>
            </a:r>
            <a:r>
              <a:rPr lang="en-US" sz="1600" dirty="0" err="1">
                <a:solidFill>
                  <a:schemeClr val="tx1"/>
                </a:solidFill>
              </a:rPr>
              <a:t>cshrc</a:t>
            </a:r>
            <a:r>
              <a:rPr lang="en-US" sz="1600" dirty="0">
                <a:solidFill>
                  <a:schemeClr val="tx1"/>
                </a:solidFill>
              </a:rPr>
              <a:t>`</a:t>
            </a:r>
            <a:r>
              <a:rPr lang="zh-TW" altLang="en-US" sz="1600" dirty="0">
                <a:solidFill>
                  <a:schemeClr val="tx1"/>
                </a:solidFill>
              </a:rPr>
              <a:t>啟動檔案到個人使用者的家目錄，登入伺服器時會載入該檔案，可自由修改喜歡的</a:t>
            </a:r>
            <a:r>
              <a:rPr lang="en-US" sz="1600" dirty="0">
                <a:solidFill>
                  <a:schemeClr val="tx1"/>
                </a:solidFill>
              </a:rPr>
              <a:t>terminal prompt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altLang="en-US" sz="1600" dirty="0"/>
              <a:t>        </a:t>
            </a:r>
            <a:r>
              <a:rPr lang="en-US" sz="1600" dirty="0">
                <a:solidFill>
                  <a:srgbClr val="38761D"/>
                </a:solidFill>
              </a:rPr>
              <a:t>cp lab0/.</a:t>
            </a:r>
            <a:r>
              <a:rPr lang="en-US" sz="1600" dirty="0" err="1">
                <a:solidFill>
                  <a:srgbClr val="38761D"/>
                </a:solidFill>
              </a:rPr>
              <a:t>cshrc</a:t>
            </a:r>
            <a:r>
              <a:rPr lang="en-US" sz="1600" dirty="0">
                <a:solidFill>
                  <a:srgbClr val="38761D"/>
                </a:solidFill>
              </a:rPr>
              <a:t> .</a:t>
            </a:r>
            <a:r>
              <a:rPr lang="en-US" sz="1600" dirty="0" err="1">
                <a:solidFill>
                  <a:srgbClr val="38761D"/>
                </a:solidFill>
              </a:rPr>
              <a:t>cshrc</a:t>
            </a:r>
            <a:endParaRPr lang="en-US" sz="1600" dirty="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4</a:t>
            </a:r>
            <a:r>
              <a:rPr lang="zh-TW" sz="1600" dirty="0">
                <a:solidFill>
                  <a:schemeClr val="tx1"/>
                </a:solidFill>
              </a:rPr>
              <a:t>. 進入 hello 示例的目錄</a:t>
            </a:r>
            <a:endParaRPr sz="1600" dirty="0">
              <a:solidFill>
                <a:schemeClr val="tx1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rgbClr val="38761D"/>
                </a:solidFill>
              </a:rPr>
              <a:t>cd lab0/hello</a:t>
            </a:r>
            <a:endParaRPr dirty="0">
              <a:solidFill>
                <a:srgbClr val="38761D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t="1156"/>
          <a:stretch/>
        </p:blipFill>
        <p:spPr>
          <a:xfrm>
            <a:off x="4452760" y="3170950"/>
            <a:ext cx="3926475" cy="18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執行步驟 (2/5)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5</a:t>
            </a:r>
            <a:r>
              <a:rPr lang="zh-TW" sz="1600" dirty="0">
                <a:solidFill>
                  <a:schemeClr val="tx1"/>
                </a:solidFill>
              </a:rPr>
              <a:t>. 編譯</a:t>
            </a:r>
            <a:r>
              <a:rPr lang="zh-TW" altLang="en-US" sz="1600" dirty="0">
                <a:solidFill>
                  <a:schemeClr val="tx1"/>
                </a:solidFill>
              </a:rPr>
              <a:t>並執行</a:t>
            </a:r>
            <a:r>
              <a:rPr lang="zh-TW" sz="1600" dirty="0">
                <a:solidFill>
                  <a:schemeClr val="tx1"/>
                </a:solidFill>
              </a:rPr>
              <a:t> `hello.cpp` </a:t>
            </a:r>
            <a:r>
              <a:rPr lang="zh-TW" sz="1600" dirty="0"/>
              <a:t>(</a:t>
            </a:r>
            <a:r>
              <a:rPr lang="zh-TW" sz="1600" dirty="0">
                <a:solidFill>
                  <a:srgbClr val="FF0000"/>
                </a:solidFill>
              </a:rPr>
              <a:t>如未更改檔案，要重新編譯，請執行第7點</a:t>
            </a:r>
            <a:r>
              <a:rPr lang="zh-TW" sz="1600" dirty="0"/>
              <a:t>)</a:t>
            </a:r>
            <a:endParaRPr sz="1600"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rgbClr val="38761D"/>
                </a:solidFill>
              </a:rPr>
              <a:t>make hello</a:t>
            </a:r>
            <a:endParaRPr sz="1600" dirty="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6</a:t>
            </a:r>
            <a:r>
              <a:rPr lang="zh-TW" sz="1600" dirty="0">
                <a:solidFill>
                  <a:schemeClr val="tx1"/>
                </a:solidFill>
              </a:rPr>
              <a:t>. 預期運行結果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/>
              <a:t>7</a:t>
            </a:r>
            <a:r>
              <a:rPr lang="zh-TW" sz="1600" dirty="0"/>
              <a:t>. 清除executable二進位檔</a:t>
            </a:r>
            <a:endParaRPr sz="1600" dirty="0"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rgbClr val="38761D"/>
                </a:solidFill>
              </a:rPr>
              <a:t>make clean</a:t>
            </a:r>
            <a:endParaRPr sz="1600" dirty="0">
              <a:solidFill>
                <a:srgbClr val="38761D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343" y="1590096"/>
            <a:ext cx="3067850" cy="2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031BFBC-4DA3-7446-BE14-9662E56D6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2" y="2432886"/>
            <a:ext cx="5363936" cy="1585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執行步驟 (3/5)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62675"/>
            <a:ext cx="8685600" cy="39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zh-TW" sz="1600" dirty="0">
                <a:solidFill>
                  <a:schemeClr val="tx1"/>
                </a:solidFill>
              </a:rPr>
              <a:t>8. 進入 counter 示例的目錄</a:t>
            </a:r>
            <a:endParaRPr sz="1600" dirty="0">
              <a:solidFill>
                <a:schemeClr val="tx1"/>
              </a:solidFill>
            </a:endParaRPr>
          </a:p>
          <a:p>
            <a:pPr marL="0" lvl="0" indent="457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zh-TW" sz="1600" dirty="0">
                <a:solidFill>
                  <a:srgbClr val="38761D"/>
                </a:solidFill>
              </a:rPr>
              <a:t>cd ../counter</a:t>
            </a:r>
            <a:endParaRPr sz="1600" dirty="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6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zh-TW" sz="1600" dirty="0"/>
              <a:t>9. </a:t>
            </a:r>
            <a:r>
              <a:rPr lang="zh-TW" sz="1600" dirty="0">
                <a:solidFill>
                  <a:schemeClr val="tx1"/>
                </a:solidFill>
              </a:rPr>
              <a:t>編譯</a:t>
            </a:r>
            <a:r>
              <a:rPr lang="zh-TW" altLang="en-US" sz="1600" dirty="0">
                <a:solidFill>
                  <a:schemeClr val="tx1"/>
                </a:solidFill>
              </a:rPr>
              <a:t>並執行</a:t>
            </a:r>
            <a:r>
              <a:rPr lang="zh-TW" sz="1600" dirty="0">
                <a:solidFill>
                  <a:schemeClr val="tx1"/>
                </a:solidFill>
              </a:rPr>
              <a:t> `counter.cpp` 和`counter_tb.cpp` </a:t>
            </a:r>
            <a:r>
              <a:rPr lang="zh-TW" sz="1600" dirty="0"/>
              <a:t>(</a:t>
            </a:r>
            <a:r>
              <a:rPr lang="zh-TW" sz="1600" dirty="0">
                <a:solidFill>
                  <a:srgbClr val="FF0000"/>
                </a:solidFill>
              </a:rPr>
              <a:t>如未更改檔案，要重新編譯，請執行第14點</a:t>
            </a:r>
            <a:r>
              <a:rPr lang="zh-TW" sz="1600" dirty="0"/>
              <a:t>)</a:t>
            </a:r>
            <a:endParaRPr sz="1600" dirty="0"/>
          </a:p>
          <a:p>
            <a:pPr marL="0" lvl="0" indent="457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zh-TW" sz="1600" dirty="0">
                <a:solidFill>
                  <a:srgbClr val="38761D"/>
                </a:solidFill>
              </a:rPr>
              <a:t>make counter</a:t>
            </a:r>
            <a:endParaRPr sz="1600" dirty="0">
              <a:solidFill>
                <a:srgbClr val="38761D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950" y="2728450"/>
            <a:ext cx="4021725" cy="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328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執行步驟 (4/5)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62675"/>
            <a:ext cx="8520600" cy="3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10</a:t>
            </a:r>
            <a:r>
              <a:rPr lang="zh-TW" sz="1600" dirty="0">
                <a:solidFill>
                  <a:schemeClr val="tx1"/>
                </a:solidFill>
              </a:rPr>
              <a:t>. 預期運行結果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</a:rPr>
              <a:t>1</a:t>
            </a:r>
            <a:r>
              <a:rPr lang="en-US" altLang="zh-TW" sz="1600" dirty="0">
                <a:solidFill>
                  <a:schemeClr val="tx1"/>
                </a:solidFill>
              </a:rPr>
              <a:t>1</a:t>
            </a:r>
            <a:r>
              <a:rPr lang="zh-TW" sz="1600" dirty="0">
                <a:solidFill>
                  <a:schemeClr val="tx1"/>
                </a:solidFill>
              </a:rPr>
              <a:t>. 下載VScode插件WaveTrace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chemeClr val="tx1"/>
                </a:solidFill>
              </a:rPr>
              <a:t>(PS : nWave無法打開vcd波型檔)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97" y="1571487"/>
            <a:ext cx="3174999" cy="20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625" y="1571488"/>
            <a:ext cx="2849875" cy="20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3000" y="3647550"/>
            <a:ext cx="4120175" cy="13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328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執行步驟 (5/5)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162675"/>
            <a:ext cx="8520600" cy="3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</a:rPr>
              <a:t>1</a:t>
            </a:r>
            <a:r>
              <a:rPr lang="en-US" altLang="zh-TW" sz="1600" dirty="0">
                <a:solidFill>
                  <a:schemeClr val="tx1"/>
                </a:solidFill>
              </a:rPr>
              <a:t>2</a:t>
            </a:r>
            <a:r>
              <a:rPr lang="zh-TW" sz="1600" dirty="0">
                <a:solidFill>
                  <a:schemeClr val="tx1"/>
                </a:solidFill>
              </a:rPr>
              <a:t>. 觀看vcd波型檔 (點Add Signals，選擇要加入波型並按Enter鍵)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</a:rPr>
              <a:t>1</a:t>
            </a:r>
            <a:r>
              <a:rPr lang="en-US" altLang="zh-TW" sz="1600" dirty="0">
                <a:solidFill>
                  <a:schemeClr val="tx1"/>
                </a:solidFill>
              </a:rPr>
              <a:t>3</a:t>
            </a:r>
            <a:r>
              <a:rPr lang="zh-TW" sz="1600" dirty="0">
                <a:solidFill>
                  <a:schemeClr val="tx1"/>
                </a:solidFill>
              </a:rPr>
              <a:t>. 清除executable二進位檔和 vcd波型檔</a:t>
            </a:r>
            <a:endParaRPr sz="1600" dirty="0">
              <a:solidFill>
                <a:schemeClr val="tx1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38761D"/>
                </a:solidFill>
              </a:rPr>
              <a:t>make clean</a:t>
            </a:r>
            <a:endParaRPr sz="1600" dirty="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chemeClr val="tx1"/>
                </a:solidFill>
              </a:rPr>
              <a:t>1</a:t>
            </a:r>
            <a:r>
              <a:rPr lang="en-US" altLang="zh-TW" sz="1600" dirty="0">
                <a:solidFill>
                  <a:schemeClr val="tx1"/>
                </a:solidFill>
              </a:rPr>
              <a:t>4</a:t>
            </a:r>
            <a:r>
              <a:rPr lang="zh-TW" sz="1600" dirty="0">
                <a:solidFill>
                  <a:schemeClr val="tx1"/>
                </a:solidFill>
              </a:rPr>
              <a:t>. 完成環境測試，有興趣可以看程式內容與Makefile，以熟悉環境。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50" y="1560025"/>
            <a:ext cx="6511876" cy="16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Makefile內容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891774"/>
            <a:ext cx="8520600" cy="396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400" b="1" dirty="0">
                <a:solidFill>
                  <a:schemeClr val="dk1"/>
                </a:solidFill>
              </a:rPr>
              <a:t>HOME = /RAID2/COURSE/2025_Spring/</a:t>
            </a:r>
            <a:r>
              <a:rPr lang="en-US" altLang="zh-TW" sz="1400" b="1" dirty="0" err="1">
                <a:solidFill>
                  <a:schemeClr val="dk1"/>
                </a:solidFill>
              </a:rPr>
              <a:t>mlchip</a:t>
            </a:r>
            <a:r>
              <a:rPr lang="en-US" altLang="zh-TW" sz="1400" b="1" dirty="0">
                <a:solidFill>
                  <a:schemeClr val="dk1"/>
                </a:solidFill>
              </a:rPr>
              <a:t>/mlchipTA01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dirty="0">
                <a:solidFill>
                  <a:srgbClr val="FF0000"/>
                </a:solidFill>
              </a:rPr>
              <a:t># SystemC 安裝的基本目錄(在TA01的資料夾)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LIB_DIR=-L $(HOME)/systemc-2.3.3/lib-linux64</a:t>
            </a:r>
            <a:r>
              <a:rPr lang="zh-TW" sz="1400" dirty="0">
                <a:solidFill>
                  <a:schemeClr val="dk1"/>
                </a:solidFill>
              </a:rPr>
              <a:t> </a:t>
            </a:r>
            <a:r>
              <a:rPr lang="zh-TW" sz="1400" dirty="0">
                <a:solidFill>
                  <a:srgbClr val="FF0000"/>
                </a:solidFill>
              </a:rPr>
              <a:t># SystemC 函式庫的目錄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INC_DIR=-I $(HOME)/systemc-2.3.3/include</a:t>
            </a:r>
            <a:r>
              <a:rPr lang="zh-TW" sz="1400" dirty="0">
                <a:solidFill>
                  <a:schemeClr val="dk1"/>
                </a:solidFill>
              </a:rPr>
              <a:t> </a:t>
            </a:r>
            <a:r>
              <a:rPr lang="zh-TW" sz="1400" dirty="0">
                <a:solidFill>
                  <a:srgbClr val="FF0000"/>
                </a:solidFill>
              </a:rPr>
              <a:t># SystemC 標頭檔的目錄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LIB=-lsystemc -Wl,-rpath,$(HOME)/systemc-2.3.3/lib-linux64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dirty="0">
                <a:solidFill>
                  <a:srgbClr val="FF0000"/>
                </a:solidFill>
              </a:rPr>
              <a:t># 指定要link到的SystemC函式庫、執行檔要抓函式庫的路徑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APP=counter</a:t>
            </a:r>
            <a:r>
              <a:rPr lang="zh-TW" sz="1400" dirty="0">
                <a:solidFill>
                  <a:schemeClr val="dk1"/>
                </a:solidFill>
              </a:rPr>
              <a:t> </a:t>
            </a:r>
            <a:r>
              <a:rPr lang="zh-TW" sz="1400" dirty="0">
                <a:solidFill>
                  <a:srgbClr val="FF0000"/>
                </a:solidFill>
              </a:rPr>
              <a:t># 要編譯的程式1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TESTBENCH=counter_tb</a:t>
            </a:r>
            <a:r>
              <a:rPr lang="zh-TW" sz="1400" dirty="0">
                <a:solidFill>
                  <a:schemeClr val="dk1"/>
                </a:solidFill>
              </a:rPr>
              <a:t> </a:t>
            </a:r>
            <a:r>
              <a:rPr lang="zh-TW" sz="1400" dirty="0">
                <a:solidFill>
                  <a:srgbClr val="FF0000"/>
                </a:solidFill>
              </a:rPr>
              <a:t># 要編譯的程式2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counter:counter.cpp counter_tb.cpp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dirty="0">
                <a:solidFill>
                  <a:srgbClr val="FF0000"/>
                </a:solidFill>
              </a:rPr>
              <a:t># target(</a:t>
            </a:r>
            <a:r>
              <a:rPr lang="zh-TW" sz="1400" dirty="0">
                <a:solidFill>
                  <a:srgbClr val="FF0000"/>
                </a:solidFill>
                <a:highlight>
                  <a:schemeClr val="lt1"/>
                </a:highlight>
              </a:rPr>
              <a:t>make要執行的動作名稱</a:t>
            </a:r>
            <a:r>
              <a:rPr lang="zh-TW" sz="1400" dirty="0">
                <a:solidFill>
                  <a:srgbClr val="FF0000"/>
                </a:solidFill>
              </a:rPr>
              <a:t>) : prerequisites (</a:t>
            </a:r>
            <a:r>
              <a:rPr lang="zh-TW" sz="1400" dirty="0">
                <a:solidFill>
                  <a:srgbClr val="FF0000"/>
                </a:solidFill>
                <a:highlight>
                  <a:schemeClr val="lt1"/>
                </a:highlight>
              </a:rPr>
              <a:t>根據依賴文件中的部分來決定目標是否需要被重建</a:t>
            </a:r>
            <a:r>
              <a:rPr lang="zh-TW" sz="1400" dirty="0">
                <a:solidFill>
                  <a:srgbClr val="FF0000"/>
                </a:solidFill>
              </a:rPr>
              <a:t>)</a:t>
            </a:r>
            <a:endParaRPr sz="1400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g++ $(APP).cpp $(TESTBENCH).cpp -o $(APP) $(LIB_DIR) $(INC_DIR) $(LIB)</a:t>
            </a:r>
            <a:r>
              <a:rPr lang="zh-TW" sz="1400" dirty="0">
                <a:solidFill>
                  <a:schemeClr val="dk1"/>
                </a:solidFill>
              </a:rPr>
              <a:t> </a:t>
            </a:r>
            <a:r>
              <a:rPr lang="zh-TW" sz="1400" dirty="0">
                <a:solidFill>
                  <a:srgbClr val="FF0000"/>
                </a:solidFill>
              </a:rPr>
              <a:t>#使用gcc編譯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clean:</a:t>
            </a:r>
            <a:endParaRPr sz="1400"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 dirty="0">
                <a:solidFill>
                  <a:schemeClr val="dk1"/>
                </a:solidFill>
              </a:rPr>
              <a:t>    rm -rf $(APP)</a:t>
            </a:r>
            <a:r>
              <a:rPr lang="zh-TW" sz="1400" dirty="0">
                <a:solidFill>
                  <a:srgbClr val="FF0000"/>
                </a:solidFill>
              </a:rPr>
              <a:t> # 強制刪除執行檔案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參考資訊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</a:t>
            </a:r>
            <a:r>
              <a:rPr lang="zh-TW" sz="1900" u="sng">
                <a:solidFill>
                  <a:schemeClr val="hlink"/>
                </a:solidFill>
                <a:hlinkClick r:id="rId3"/>
              </a:rPr>
              <a:t>systemC官網介紹</a:t>
            </a:r>
            <a:endParaRPr sz="2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</a:t>
            </a:r>
            <a:r>
              <a:rPr lang="zh-TW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SystemC語法介紹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3. </a:t>
            </a:r>
            <a:r>
              <a:rPr lang="zh-TW" u="sng">
                <a:solidFill>
                  <a:schemeClr val="hlink"/>
                </a:solidFill>
                <a:hlinkClick r:id="rId5"/>
              </a:rPr>
              <a:t>SystemC簡化版安裝步驟</a:t>
            </a:r>
            <a:r>
              <a:rPr lang="zh-TW"/>
              <a:t>、</a:t>
            </a:r>
            <a:r>
              <a:rPr lang="zh-TW" u="sng">
                <a:solidFill>
                  <a:schemeClr val="hlink"/>
                </a:solidFill>
                <a:hlinkClick r:id="rId6"/>
              </a:rPr>
              <a:t>SystemC官網安裝步驟</a:t>
            </a:r>
            <a:r>
              <a:rPr lang="zh-TW"/>
              <a:t>、</a:t>
            </a:r>
            <a:r>
              <a:rPr lang="zh-TW" u="sng">
                <a:solidFill>
                  <a:schemeClr val="hlink"/>
                </a:solidFill>
                <a:hlinkClick r:id="rId7"/>
              </a:rPr>
              <a:t>問題排除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4. </a:t>
            </a:r>
            <a:r>
              <a:rPr lang="zh-TW" u="sng">
                <a:solidFill>
                  <a:schemeClr val="hlink"/>
                </a:solidFill>
                <a:hlinkClick r:id="rId8"/>
              </a:rPr>
              <a:t>Makefile 語法和示範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869</Words>
  <Application>Microsoft Office PowerPoint</Application>
  <PresentationFormat>如螢幕大小 (16:9)</PresentationFormat>
  <Paragraphs>71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Microsoft JhengHei</vt:lpstr>
      <vt:lpstr>Arial</vt:lpstr>
      <vt:lpstr>Simple Light</vt:lpstr>
      <vt:lpstr>mlchip Lab0 SytemC環境測試</vt:lpstr>
      <vt:lpstr>什麼是 SystemC</vt:lpstr>
      <vt:lpstr>執行步驟 (1/5)</vt:lpstr>
      <vt:lpstr>執行步驟 (2/5)</vt:lpstr>
      <vt:lpstr>執行步驟 (3/5)</vt:lpstr>
      <vt:lpstr>執行步驟 (4/5)</vt:lpstr>
      <vt:lpstr>執行步驟 (5/5)</vt:lpstr>
      <vt:lpstr>Makefile內容 </vt:lpstr>
      <vt:lpstr>參考資訊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陳旭祺</cp:lastModifiedBy>
  <cp:revision>18</cp:revision>
  <dcterms:modified xsi:type="dcterms:W3CDTF">2025-03-04T08:11:23Z</dcterms:modified>
</cp:coreProperties>
</file>